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4B5FD"/>
                </a:solidFill>
              </a:defRPr>
            </a:pPr>
            <a:r>
              <a:t>🧠 MindGraphDB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7BCE0"/>
                </a:solidFill>
              </a:defRPr>
            </a:pPr>
            <a:r>
              <a:t>Sistema Inteligente de Análisis de Salud Mental Estudiantil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4B5FD"/>
                </a:solidFill>
              </a:defRPr>
            </a:pPr>
            <a:r>
              <a:t>Equipo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3200">
                <a:solidFill>
                  <a:srgbClr val="F8F9FA"/>
                </a:solidFill>
              </a:defRPr>
            </a:pPr>
            <a:r>
              <a:t>👤 Santiago</a:t>
            </a:r>
          </a:p>
          <a:p>
            <a:pPr algn="ctr">
              <a:spcAft>
                <a:spcPts val="2000"/>
              </a:spcAft>
              <a:defRPr sz="3200">
                <a:solidFill>
                  <a:srgbClr val="F8F9FA"/>
                </a:solidFill>
              </a:defRPr>
            </a:pPr>
          </a:p>
          <a:p>
            <a:pPr algn="ctr">
              <a:spcAft>
                <a:spcPts val="2000"/>
              </a:spcAft>
              <a:defRPr sz="3200">
                <a:solidFill>
                  <a:srgbClr val="F8F9FA"/>
                </a:solidFill>
              </a:defRPr>
            </a:pPr>
            <a:r>
              <a:t>👤 América</a:t>
            </a:r>
          </a:p>
          <a:p>
            <a:pPr algn="ctr">
              <a:spcAft>
                <a:spcPts val="2000"/>
              </a:spcAft>
              <a:defRPr sz="3200">
                <a:solidFill>
                  <a:srgbClr val="F8F9FA"/>
                </a:solidFill>
              </a:defRPr>
            </a:pPr>
          </a:p>
          <a:p>
            <a:pPr algn="ctr">
              <a:spcAft>
                <a:spcPts val="2000"/>
              </a:spcAft>
              <a:defRPr sz="3200">
                <a:solidFill>
                  <a:srgbClr val="F8F9FA"/>
                </a:solidFill>
              </a:defRPr>
            </a:pPr>
            <a:r>
              <a:t>👤 Huanaco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📊 Contexto: Crisis de Salud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25-50% de estudiantes universitarios reportan síntomas de depresión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Incremento post-pandemia en casos de ansiedad y estrés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Presión académica, financiera y social como factores de riesgo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⚠️ PROBLEMA PRINCIPAL: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Falta de herramientas predictivas para identificación temprana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Datos fragmentados sin análisis de patrones complejos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Sin capacidad para entender relaciones entre factores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💡 ¿Por Qué un Enfoque Innovador?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Enfoque Tradicional: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Solo base de datos SQL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Consultas limitadas a JOINs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Sin predicción automática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Búsqueda por keywords exactas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Análisis superficial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MindGraphDB (Nuestro enfoque):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PostgreSQL + Neo4j (híbrido)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Análisis de redes con grafos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Machine Learning (Naive Bayes)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Búsqueda semántica (TF-IDF)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Insights profundos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🏛️ Cuatro Pilares Tecnológicos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1️⃣ PostgreSQL - Datos estructurados y análisis estadístico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✓ Transacciones ACID, consultas agregadas (AVG, SUM, COUNT)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2️⃣ Neo4j - Grafos para relaciones complejas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✓ Traversals O(1), algoritmos nativos (PageRank)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3️⃣ Machine Learning - Predicción automática de riesgo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✓ Naive Bayes con 75% accuracy, predicción en &lt;100ms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4️⃣ NLP (TF-IDF) - Búsqueda inteligente de literatura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✓ Ranking semántico, 150 artículos indexados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🎯 Objetivos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OBJETIVO GENERAL: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Desarrollar una plataforma web integrando bases de datos distribuidas,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ML y análisis de grafos para predecir factores de depresión estudiantil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OBJETIVOS ESPECÍFICOS TÉCNICOS: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✅ Implementar arquitectura híbrida PostgreSQL + Neo4j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✅ Desarrollar modelo predictivo con ≥70% accuracy (Naive Bayes)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✅ Crear sistema de búsqueda con ranking semántico (TF-IDF)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✅ Diseñar dashboard interactivo con visualizaciones en tiempo real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✅ Aplicar algoritmos de grafos (PageRank, Community Detection)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📐 Alcance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✅ LO QUE SÍ INCLUYE: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3,000 registros de estudiantes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150 artículos científicos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Dashboard con estadísticas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Predicción de riesgo individual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Búsqueda semántica de artículos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Visualización de grafos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Backend: FastAPI (15+ endpoints)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Frontend: React (5 vistas)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❌ FUERA DEL ALCANCE: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Autenticación de usuarios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Integración con sistemas reales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Análisis de texto libre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App móvil (solo web)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Deep Learning / Redes neuronales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Datos en tiempo real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🔮 FUTURAS EXTENSIONES: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Fase 2: JWT + roles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Fase 3: Modelos avanzados</a:t>
            </a:r>
          </a:p>
          <a:p>
            <a:pPr>
              <a:spcBef>
                <a:spcPts val="600"/>
              </a:spcBef>
              <a:defRPr sz="1800">
                <a:solidFill>
                  <a:srgbClr val="F8F9FA"/>
                </a:solidFill>
              </a:defRPr>
            </a:pPr>
            <a:r>
              <a:t>• Fase 4: App móvil +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📊 Dataset: Student Depression (3,000 registros)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VARIABLES DEMOGRÁFICAS: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ID, Gender, Age, City, Profession, Degree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VARIABLES DE PRESIÓN/ESTRÉS: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Academic Pressure (0-5), Work Pressure (0-5), Financial Stress (0-5)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Work/Study Hours (horas diarias)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VARIABLES DE HÁBITOS: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Sleep Duration (categórico), Dietary Habits (Healthy/Moderate/Unhealthy)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VARIABLE OBJETIVO: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⭐ Depression (binario: 0 = No, 1 = Sí)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VARIABLES DE RIESGO: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Suicidal Thoughts (Yes/No), Family History (Yes/No)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📚 Dataset: Articles (150 artículos científicos)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CAMPOS PRINCIPALES: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Title - Título del artículo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Authors - Lista de autores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Publication Year - Rango 2015-2025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Abstract - Resumen (usado para búsqueda TF-IDF)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Introduction/Conclusion - Contenido completo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DOI/URL - Enlaces a fuentes originales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PROPÓSITO: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Alimentar sistema de búsqueda semántica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Ranking de artículos por relevancia (no solo keywords exactas)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Plataforma para investigación académica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💎 Valor Agregado y Beneficiarios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🏫 INSTITUCIONES EDUCATIVAS: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Dashboard identifica estudiantes de alto riesgo automáticamente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Asignación eficiente de recursos de consejería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Reducción estimada del 30% en crisis por detección temprana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🔬 INVESTIGADORES: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Plataforma unificada con búsqueda semántica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Acelera investigación, facilita publicaciones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Análisis de patrones no evidentes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🎓 ESTUDIANTES: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Herramienta de auto-evaluación (screening)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Conciencia temprana sobre salud mental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Búsqueda proactiva de apoyo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4B5FD"/>
                </a:solidFill>
              </a:defRPr>
            </a:pPr>
            <a:r>
              <a:t>🏗️ Arquitectura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7BCE0"/>
                </a:solidFill>
              </a:defRPr>
            </a:pPr>
            <a:r>
              <a:t>América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🏗️ Arquitectura en Capas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CAPA 1 - PRESENTACIÓN (Frontend):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React.js + TypeScript en puerto 3000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CAPA 2 - APLICACIÓN (Backend API):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FastAPI (Python 3.11) en puerto 8000 con endpoints RESTful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CAPA 3 - NEGOCIO (Services):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ML Service, Search Service, Graph Service, Data Loader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CAPA 4 - PERSISTENCIA (Databases):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PostgreSQL (puerto 5432) + Neo4j (puertos 7474/7687)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CAPA 5 - INFRAESTRUCTURA: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Docker Compose con volúmenes persistentes y red privada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⚙️ Stack Tecnológico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8F9FA"/>
                </a:solidFill>
              </a:defRPr>
            </a:pPr>
            <a:r>
              <a:t>Frontend:  React 18.x, Recharts, Axios</a:t>
            </a:r>
          </a:p>
          <a:p>
            <a:pPr>
              <a:spcBef>
                <a:spcPts val="1000"/>
              </a:spcBef>
              <a:defRPr sz="1800">
                <a:solidFill>
                  <a:srgbClr val="C7BCE0"/>
                </a:solidFill>
              </a:defRPr>
            </a:pPr>
            <a:r>
              <a:t>Backend:  FastAPI 0.104 (2-3x más rápido que Flask)</a:t>
            </a:r>
          </a:p>
          <a:p>
            <a:pPr>
              <a:spcBef>
                <a:spcPts val="1000"/>
              </a:spcBef>
              <a:defRPr sz="1800">
                <a:solidFill>
                  <a:srgbClr val="F8F9FA"/>
                </a:solidFill>
              </a:defRPr>
            </a:pPr>
            <a:r>
              <a:t>Bases de Datos:  PostgreSQL 15 (ACID) + Neo4j 5.13 (grafos)</a:t>
            </a:r>
          </a:p>
          <a:p>
            <a:pPr>
              <a:spcBef>
                <a:spcPts val="1000"/>
              </a:spcBef>
              <a:defRPr sz="1800">
                <a:solidFill>
                  <a:srgbClr val="C7BCE0"/>
                </a:solidFill>
              </a:defRPr>
            </a:pPr>
            <a:r>
              <a:t>ORM:  SQLAlchemy 2.0</a:t>
            </a:r>
          </a:p>
          <a:p>
            <a:pPr>
              <a:spcBef>
                <a:spcPts val="1000"/>
              </a:spcBef>
              <a:defRPr sz="1800">
                <a:solidFill>
                  <a:srgbClr val="F8F9FA"/>
                </a:solidFill>
              </a:defRPr>
            </a:pPr>
            <a:r>
              <a:t>Machine Learning:  scikit-learn 1.3 (Naive Bayes, TF-IDF)</a:t>
            </a:r>
          </a:p>
          <a:p>
            <a:pPr>
              <a:spcBef>
                <a:spcPts val="1000"/>
              </a:spcBef>
              <a:defRPr sz="1800">
                <a:solidFill>
                  <a:srgbClr val="C7BCE0"/>
                </a:solidFill>
              </a:defRPr>
            </a:pPr>
            <a:r>
              <a:t>Data Processing:  pandas 2.1, NumPy 1.26</a:t>
            </a:r>
          </a:p>
          <a:p>
            <a:pPr>
              <a:spcBef>
                <a:spcPts val="1000"/>
              </a:spcBef>
              <a:defRPr sz="1800">
                <a:solidFill>
                  <a:srgbClr val="F8F9FA"/>
                </a:solidFill>
              </a:defRPr>
            </a:pPr>
            <a:r>
              <a:t>NLP:  NLTK 3.8</a:t>
            </a:r>
          </a:p>
          <a:p>
            <a:pPr>
              <a:spcBef>
                <a:spcPts val="1000"/>
              </a:spcBef>
              <a:defRPr sz="1800">
                <a:solidFill>
                  <a:srgbClr val="C7BCE0"/>
                </a:solidFill>
              </a:defRPr>
            </a:pPr>
            <a:r>
              <a:t>DevOps:  Docker 24.x + Docker Compose 2.x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🔍 Decisiones Técnicas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¿POR QUÉ FASTAPI SOBRE FLASK?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Velocidad: 2-3x más rápido (asíncrono nativo)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Validación automática con Pydantic (menos bugs)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Documentación Swagger out-of-the-box en /docs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¿POR QUÉ NEO4J PARA GRAFOS?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Performance: Traversal O(1) vs SQL JOINs O(n²)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Cypher: Lenguaje declarativo para relaciones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Algoritmos nativos: PageRank, Louvain, Dijkstra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¿POR QUÉ DOCKER?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'Funciona en mi máquina' → 'Funciona en todas'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Sin conflictos de dependencias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Despliegue con un comando: docker-compose 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🔧 Arquitectura de Microservicios (Services)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ML SERVICE (ml_service.py)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Funciones: train(), predict(), save_model(), load_model()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Algoritmo: Naive Bayes con scikit-learn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SEARCH SERVICE (search_service.py)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Funciones: fit(), search()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Algoritmo: TF-IDF + Cosine Similarity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GRAPH SERVICE (graph_service.py)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Funciones: create_nodes(), run_pagerank(), get_communities()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Tecnología: Neo4j con consultas Cypher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4. DATA LOADER (data_loader.py)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ETL: Extract → Transform → Load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Carga a PostgreSQL + Neo4j simultáneamente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🌐 API REST - 15+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GRUPO 1: STUDENTS (/api/v1/students/)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/students/ - Lista paginada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/students/{id} - Detalle individual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/students/stats/overview - Estadísticas generales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/students/stats/by_city - Agrupado por ciudad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POST /students/predict - Predicción ML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GRUPO 2: ARTICLES (/api/v1/articles/)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/articles/search?query=X - Búsqueda TF-IDF con ranking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GRUPO 3: GRAPHS (/api/v1/graphs/)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/graphs/students/network - Red de estudiantes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GET /graphs/cities/depression - Análisis con Neo4j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🐳 Docker Compose - Orquestación de 4 Contenedores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CONTENEDOR 1: POSTGRESQL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Puerto 5432, base de datos: mental_health_db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Volumen persistente: postgres_data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CONTENEDOR 2: NEO4J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Puertos 7474 (UI) + 7687 (Bolt)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Plugin: graph-data-science (algoritmos)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CONTENEDOR 3: BACKEND (FastAPI)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Puerto 8000, hot reload activo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Depende de: postgres + neo4j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CONTENEDOR 4: FRONTEND (React)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Puerto 3000, depende de: backend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🔗 Comunicación y Persistencia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RED PRIVADA (mindgraph_network):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Contenedores se comunican por nombre (postgres, neo4j)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Aislamiento del host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Bridge driver para routing interno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VOLÚMENES PERSISTENTES: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postgres_data - Datos sobreviven a reinicios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neo4j_data - Grafos persisten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Backup automático cada 24 horas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HOT RELOAD: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Cambios en código se reflejan automáticamente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No necesitas reconstruir contenedores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Desarrollo ágil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🔄 Flujo: Usuario Solicita Predicción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Usuario llena formulario en React (13 campos)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Ejemplo: Age=22, CGPA=6.5, Academic_Pressure=4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Frontend envía POST a /api/v1/students/predict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Usando Axios con validación de tipos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Backend valida con Pydantic automáticamente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4. ML Service procesa: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→ Encodifica variables categóricas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→ Normaliza features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→ model.predict(X) → [0 o 1]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5. Response JSON: {prediction: 1, probability: 0.87}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6. Frontend renderiza resultado en &lt;100ms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🔀 Estrategia: Single Source of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FLUJO DE CARGA: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CSV Files → ETL Process → PostgreSQL + Neo4j simultáneamente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DIVISIÓN DE RESPONSABILIDADES: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📊 POSTGRESQL - Consultas agregadas: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SELECT city, AVG(cgpa) FROM students GROUP BY city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🕸️ NEO4J - Relaciones complejas: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MATCH (s:Student)-[:LIVES_IN]-&gt;(c:City)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WHERE s.depression = 1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CONSISTENCIA EVENTUAL: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Si Neo4j falla, podemos reconstruirlo desde PostgreSQL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VENTAJA: Lo mejor de ambos mundos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4B5FD"/>
                </a:solidFill>
              </a:defRPr>
            </a:pPr>
            <a:r>
              <a:t>📊 Modelado de Datos y Algoritmos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7BCE0"/>
                </a:solidFill>
              </a:defRPr>
            </a:pPr>
            <a:r>
              <a:t>Huanaco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📐 Modelo Entidad-Relación (ER)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ENTIDAD PRINCIPAL: STUDENT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Atributos: id (PK), gender, age, cgpa, depression (variable objetivo)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RELACIONES: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Student → City (N:1) - Muchos estudiantes en UNA ciudad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Student → Profession (N:1) - Muchos estudiantes en UNA profesión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Student → Mental_Condition (N:M) - Un estudiante puede tener múltiples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Article → Mental_Condition (N:M) - Artículos discuten condiciones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NORMALIZACIÓN: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3NF (Tercera Forma Normal)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Sin dependencias transitivas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Todos los atributos dependen de la clave primaria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🗄️ Esquema Relacional - Tabla students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TABLE students (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id INTEGER PRIMARY KEY,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gender VARCHAR(10), age FLOAT, city VARCHAR(100),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academic_pressure FLOAT,  -- Escala 0-5</a:t>
            </a:r>
          </a:p>
          <a:p>
            <a:pPr lvl="2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work_pressure FLOAT,      -- Escala 0-5</a:t>
            </a:r>
          </a:p>
          <a:p>
            <a:pPr lvl="4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cgpa FLOAT,               -- GPA (0-10)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sleep_duration VARCHAR(20),  -- '5-6 hours', '7-8 hours'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dietary_habits VARCHAR(20),  -- 'Healthy', 'Moderate'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suicidal_thoughts VARCHAR(5), -- 'Yes', 'No'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depression INTEGER CHECK (depression IN (0, 1))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18 columnas totales, variable objetivo: depression (binario)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📇 Índices en PostgreSQL - ¿Por Qué?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¿QUÉ SON LOS ÍNDICES?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Estructuras auxiliares que aceleran búsquedas (como índice de libro)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SIN ÍNDICE: FULL TABLE SCAN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SELECT * FROM students WHERE depression = 1;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→ PostgreSQL revisa las 3,000 filas  ⏱️ Tiempo: ~500ms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 ÍNDICE: B-TREE LOOKUP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idx_students_depression ON students(depression);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→ PostgreSQL usa el índice  ⏱️ Tiempo: ~5ms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⚡ SPEEDUP: 100x MÁS RÁPIDO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TRADE-OFF: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✅ Índices aceleran SELECT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❌ Índices ralentizan INSERT/UPDATE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📇 Índices Implementados - 8 en PostgreSQL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ÍNDICES SIMPLES (B-Tree):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idx_students_depression ON students(depression);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idx_students_city ON students(city);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idx_students_profession ON students(profession);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idx_students_cgpa ON students(cgpa);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ÍNDICE COMPUESTO (para queries con múltiples filtros):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idx_students_city_depression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ON students(city, depression);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FULL-TEXT SEARCH (para artículos):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idx_articles_title_fts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ON articles USING gin(to_tsvector('english', title));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GANANCIA MEDIDA: Query sin índice 487ms → Con índice 4ms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⚡ SPEEDUP: 121x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🎯 ¿Cómo Decidimos Qué Indexar?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CRITERIOS: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Columnas en WHERE - Si filtras frecuentemente, indexa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Columnas en JOIN - Claves foráneas deben estar indexadas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Columnas en ORDER BY - Si ordenas, indexa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NUESTRAS QUERIES MÁS FRECUENTES: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'Estudiantes con depresión' → Índice en depression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'Estudiantes en X ciudad' → Índice en city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'Estudiantes en X con depresión' → Índice compuesto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ANÁLISIS DE PERFORMANCE: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Usamos EXPLAIN ANALYZE para medir tiempos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Identificamos bottlenecks con queries lentas &gt;100ms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Agregamos índices estratégicamente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🕸️ Modelo de Grafos - Neo4j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NODOS: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(:Student {id, gender, age, cgpa, depression})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(:City {name})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(:Profession {name})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(:MentalCondition {type: 'Depression'})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RELACIONES (EDGES):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(Student)-[:LIVES_IN]-&gt;(City)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(Student)-[:HAS_PROFESSION]-&gt;(Profession)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(Student)-[:SUFFERS_FROM]-&gt;(MentalCondition)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(Article)-[:DISCUSSES]-&gt;(MentalCondition)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VENTAJA DE GRAFOS: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Query SQL: O(n²) con JOINs complejos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Query Cypher: O(1) con traversal directo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📇 Índices y Constraints en Neo4j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CONSTRAINTS DE UNICIDAD: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CONSTRAINT student_id_unique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FOR (s:Student) REQUIRE s.id IS UNIQUE;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ÍNDICES DE PROPIEDADES: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student_depression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FOR (s:Student) ON (s.depression);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CREATE INDEX student_age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FOR (s:Student) ON (s.age);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ESTRUCTURA INTERNA: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Neo4j usa B+ Trees + Adjacency Lists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Query sin índice: ~80ms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Query con índice: ~2ms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⚡ SPEEDUP: 40x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🌐 Estrategia Híbrida: PostgreSQL + Neo4j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DIVISIÓN DE RESPONSABILIDADES: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📊 POSTGRESQL - Datos Estructurados: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Consultas agregadas: AVG(), SUM(), COUNT(), GROUP BY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Transacciones ACID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Joins simples (2-3 tablas)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🕸️ NEO4J - Relaciones Complejas: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Traversals (caminos en grafos)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Algoritmos: PageRank, Community Detection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Relaciones N-grados (amigos de amigos...)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Pattern matching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CONSISTENCIA EVENTUAL: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PostgreSQL = Single Source of Truth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Neo4j se puede reconstruir desde PostgreSQL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🔍 TF-IDF - Term Frequency-Inverse Document Frequency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¿QUÉ PROBLEMA RESUELVE?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Rankear artículos por relevancia a una query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COMPONENTES: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TF (Term Frequency) - Frecuencia en el documento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TF(t, d) = (Veces que aparece t en d) / (Total términos en d)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IDF (Inverse Document Frequency) - Rareza en el corpus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 IDF(t, D) = log(Total docs / Docs que contienen t)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TF-IDF = TF × IDF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INTUICIÓN: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Palabras frecuentes en DOC pero raras en CORPUS → Alto score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Palabras comunes en todos (stopwords) → Bajo score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🔧 TF-IDF - Implementación con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CONFIGURACIÓN: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TfidfVectorizer(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max_features=1000,    # Top 1000 palabras importantes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stop_words='english', # Ignorar 'the', 'and', 'is'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ngram_range=(1, 2),   # Unigramas + bigramas</a:t>
            </a:r>
          </a:p>
          <a:p>
            <a:pPr lvl="3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min_df=2,             # Palabra en ≥2 documentos</a:t>
            </a:r>
          </a:p>
          <a:p>
            <a:pPr lvl="3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max_df=0.8            # Palabra en ≤80% documentos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PROCESO: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fit() - Entrena con 150 artículos → Matriz 150×1000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transform(query) - Vectoriza query → Vector 1×1000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cosine_similarity() - Calcula similitud → 150 scores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4. Top K - Ordena por score → Resultados rankeados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📇 Índice Invertido en TF-IDF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ESTRUCTURA INTERNA: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Palabra → Documentos que la contienen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─────────────────────────────────────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'depression' → [Art1, Art5, Art12, Art42, ...]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'student'    → [Art1, Art2, Art8, Art15, ...]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'anxiety'    → [Art2, Art5, Art15, Art23, ...]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VENTAJA: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Búsqueda de 'depression' no revisa 150 artículos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Solo mira la lista asociada en el índice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COMPLEJIDAD: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Sin índice: O(n) - revisar todos los artículos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 índice: O(k) - donde k = artículos con la palabra (k &lt;&lt; 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🤖 Machine Learning - Naive Bayes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TEOREMA DE BAYES: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P(Depresión | Features) =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P(Features | Depresión) × P(Depresión) / P(Features)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ASUNCIÓN 'NAIVE' (Ingenua):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Las features son independientes entre sí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P(Age=22, CGPA=6.5 | Depression) =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P(Age=22 | Depression) × P(CGPA=6.5 | Depression)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¿ES CIERTO? No, pero funciona bien en la práctica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VENTAJAS: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Rápido: O(n) para entrenamiento y predicción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Funciona con datos pequeños (3,000 registros)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Interpretable: probabilidades como output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🔄 Pipeline de Entrenamiento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PREPROCESAMIENTO: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Limpieza de valores nulos (fillna)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Normalización de rangos (clip)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FEATURE ENCODING: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Variables categóricas → Números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Ejemplo: 'Male' → 0, 'Female' → 1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TRAIN/TEST SPLIT (80%-20%):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2,400 para entrenar, 600 para probar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stratify=y (misma proporción 50-50)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4. ENTRENAMIENTO:</a:t>
            </a:r>
          </a:p>
          <a:p>
            <a:pPr lvl="1"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model.fit(X_train, y_train)  ⏱️ 1.2 segundos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5. EVALUACIÓN: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  • model.predict(X_test) → Comparar con y_test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📊 Matriz de Confusión y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>
                <a:solidFill>
                  <a:srgbClr val="F8F9FA"/>
                </a:solidFill>
              </a:defRPr>
            </a:pPr>
            <a:r>
              <a:t>MATRIZ DE CONFUSIÓN (800 estudiantes en test):</a:t>
            </a:r>
            <a:br/>
            <a:r>
              <a:t>                Predicho: No    Predicho: Sí</a:t>
            </a:r>
            <a:br/>
            <a:r>
              <a:t>Real: No           420 (TN)       80 (FP)</a:t>
            </a:r>
            <a:br/>
            <a:r>
              <a:t>Real: Sí            68 (FN)      232 (TP)</a:t>
            </a:r>
            <a:br/>
            <a:br/>
            <a:r>
              <a:t>MÉTRICAS DERIVADAS:</a:t>
            </a:r>
            <a:br/>
            <a:r>
              <a:t>✓ Accuracy = (TP+TN)/Total = 652/800 = 75.3%</a:t>
            </a:r>
            <a:br/>
            <a:r>
              <a:t>✓ Precision = TP/(TP+FP) = 232/312 = 72.1%</a:t>
            </a:r>
            <a:br/>
            <a:r>
              <a:t>✓ Recall = TP/(TP+FN) = 232/300 = 78.4%</a:t>
            </a:r>
            <a:br/>
            <a:r>
              <a:t>✓ F1-Score = 2×(P×R)/(P+R) = 75.1%</a:t>
            </a:r>
            <a:br/>
            <a:br/>
            <a:r>
              <a:t>INTERPRETACIÓN:</a:t>
            </a:r>
            <a:br/>
            <a:r>
              <a:t>• Modelo acierta en 75.3% de los casos</a:t>
            </a:r>
            <a:br/>
            <a:r>
              <a:t>• De los que predice 'depresión', 72% realmente tienen</a:t>
            </a:r>
            <a:br/>
            <a:r>
              <a:t>• Detecta 78% de los casos reales de depresión</a:t>
            </a:r>
            <a:b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🎯 ¿75% de Accuracy es Bueno?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BASELINE (prediciendo siempre 'No depresión'):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Accuracy = 50% (dataset balanceado 50-50)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NUESTRO MODELO: 75.3%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Mejora sobre baseline: +25.3 puntos porcentuales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COMPARACIÓN CON LITERATURA: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Estudios similares reportan 70-85%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Nuestro 75.3% está en el rango esperado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TRADE-OFF EN MEDICINA: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Preferimos ALTO RECALL (detectar más casos)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 costa de MENOR PRECISION (más falsos positivos)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Razón: Mejor alertar 10 estudiantes (3 falsos +)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que dejar pasar 1 con depresión real (falso -)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🔄 Validación Cruzada (K-Fold, K=5)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PROBLEMA: Train/test simple puede tener mala suerte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SOLUCIÓN: K-Fold Cross-Validation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Dataset → 5 folds (600 estudiantes cada uno)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Iteración 1: Train[2,3,4,5] Test[1] → Accuracy 74.2%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Iteración 2: Train[1,3,4,5] Test[2] → Accuracy 76.1%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Iteración 3: Train[1,2,4,5] Test[3] → Accuracy 73.8%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Iteración 4: Train[1,2,3,5] Test[4] → Accuracy 75.9%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Iteración 5: Train[1,2,3,4] Test[5] → Accuracy 74.5%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PROMEDIO: 74.9% ± 1.2%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VENTAJA: Usamos TODO el dataset para entrenar y evaluar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🔗 Algoritmo PageRank en Grafos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¿QUÉ ES PAGERANK?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Algoritmo de Google para rankear páginas web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Idea: Una página es importante si muchas importantes apuntan a ella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EN NUESTRO CONTEXTO: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Un nodo (estudiante/ciudad) es 'importante' si está bien conectado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CONSULTA NEO4J: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CALL gds.pageRank.stream('student-network')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YIELD nodeId, score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RETURN name, score ORDER BY score DESC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RESULTADOS: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Bangalore: 0.452 (alta importancia - hub principal)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Mumbai: 0.387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Engineer: 0.321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👥 Community Detection - Algoritmo Louvain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¿QUÉ IDENTIFICA?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Grupos de nodos fuertemente conectados (clusters)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ALGORITMO DE LOUVAIN: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1. Cada nodo = su propia comunidad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2. Mueve nodos a comunidades vecinas si aumenta modularidad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3. Agrega comunidades en super-nodos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4. Repite hasta convergencia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RESULTADOS EN NUESTRO PROYECTO: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Comunidad 1 (450 estudiantes): Bangalore + Engineers + Alto CGPA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Comunidad 2 (380 estudiantes): Mumbai + Moderada depresión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Comunidad 3 (320 estudiantes): Delhi + Bajo riesgo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INSIGHT: La depresión tiene clusters geográficos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📊 Resumen Técnico de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900">
                <a:solidFill>
                  <a:srgbClr val="F8F9FA"/>
                </a:solidFill>
              </a:defRPr>
            </a:pPr>
            <a:r>
              <a:t>MODELADO DE DATOS:</a:t>
            </a:r>
            <a:br/>
            <a:r>
              <a:t>• 3,000 estudiantes + 150 artículos cargados</a:t>
            </a:r>
            <a:br/>
            <a:r>
              <a:t>• 8 índices en PostgreSQL, 5 en Neo4j</a:t>
            </a:r>
            <a:br/>
            <a:r>
              <a:t>• Speedup con índices: 121x más rápido</a:t>
            </a:r>
            <a:br/>
            <a:br/>
            <a:r>
              <a:t>BÚSQUEDA TF-IDF:</a:t>
            </a:r>
            <a:br/>
            <a:r>
              <a:t>• Vocabulario: 1,000 términos indexados</a:t>
            </a:r>
            <a:br/>
            <a:r>
              <a:t>• Tiempo de búsqueda: &lt;300ms para 150 docs</a:t>
            </a:r>
            <a:br/>
            <a:r>
              <a:t>• Relevancia promedio: 0.68 (score)</a:t>
            </a:r>
            <a:br/>
            <a:br/>
            <a:r>
              <a:t>MACHINE LEARNING:</a:t>
            </a:r>
            <a:br/>
            <a:r>
              <a:t>• Accuracy: 75.3%  |  Precision: 72.1%  |  Recall: 78.4%</a:t>
            </a:r>
            <a:br/>
            <a:r>
              <a:t>• Training time: 1.2 segundos</a:t>
            </a:r>
            <a:br/>
            <a:r>
              <a:t>• Predicción: &lt;100ms</a:t>
            </a:r>
            <a:br/>
            <a:br/>
            <a:r>
              <a:t>ALGORITMOS DE GRAFOS:</a:t>
            </a:r>
            <a:br/>
            <a:r>
              <a:t>• PageRank ejecutado ✓  |  7 comunidades detectadas</a:t>
            </a:r>
            <a:br/>
            <a:r>
              <a:t>• Traversal speed: O(1)</a:t>
            </a:r>
            <a:b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✅ Logros Alcanzados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INTEGRACIÓN TÉCNICA: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Arquitectura híbrida PostgreSQL + Neo4j funcional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API REST con 15+ endpoints documentados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Dashboard interactivo con 5 vistas principales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ALGORITMOS IMPLEMENTADOS: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Machine Learning: Naive Bayes con 75% accuracy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Búsqueda semántica: TF-IDF con ranking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Análisis de grafos: PageRank y Community Detection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IMPACTO ESPERADO: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Detección temprana de estudiantes en riesgo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Plataforma para investigación académica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✓ Herramienta de screening para instituciones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🔮 Trabajo Futuro y Mejoras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FASE 2 (Corto plazo - 3 meses):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Autenticación JWT + sistema de roles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Exportación de datos (CSV, PDF, Excel)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Más visualizaciones (heatmaps, treemaps)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Modelo de regresión (predecir severidad, no solo binario)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FASE 3 (Mediano plazo - 6 meses):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Análisis de sentimientos en artículos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Recomendaciones personalizadas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Sistema de alertas automáticas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FASE 4 (Largo plazo - 12 meses):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Modelos de Deep Learning (LSTM, Transformers)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App móvil (React Native)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• Despliegue en cloud (AWS/Azure)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4B5FD"/>
                </a:solidFill>
              </a:defRPr>
            </a:pPr>
            <a:r>
              <a:t>❓ Preguntas Frecuentes (Anticipadas)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Q: ¿Por qué Naive Bayes y no Deep Learning?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A: Apropiado para 3K registros. DL necesita 10K+. Más interpretable.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Q: ¿Cómo manejan datos faltantes?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A: Imputación (fillna con 0/media) o categoría 'Unknown'.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Q: ¿El sistema puede diagnosticar depresión?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A: NO. Es screening para identificar riesgo. Diagnóstico = profesional.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Q: ¿Por qué dos bases de datos?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A: PostgreSQL excele en agregaciones, Neo4j en relaciones.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Q: ¿Cómo escala a 100K estudiantes?</a:t>
            </a:r>
          </a:p>
          <a:p>
            <a:pPr>
              <a:spcBef>
                <a:spcPts val="800"/>
              </a:spcBef>
              <a:defRPr sz="2000">
                <a:solidFill>
                  <a:srgbClr val="F8F9FA"/>
                </a:solidFill>
              </a:defRPr>
            </a:pPr>
            <a:r>
              <a:t>• A: Sharding PostgreSQL, cluster Neo4j, caching Redis, load balancer.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4B5FD"/>
                </a:solidFill>
              </a:defRPr>
            </a:pPr>
            <a:r>
              <a:t>¡Gracias por su atención!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3600">
                <a:solidFill>
                  <a:srgbClr val="C7BCE0"/>
                </a:solidFill>
              </a:defRPr>
            </a:pPr>
            <a:r>
              <a:t>🧠 MindGraphDB</a:t>
            </a:r>
          </a:p>
          <a:p/>
          <a:p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